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96" r:id="rId2"/>
    <p:sldId id="329" r:id="rId3"/>
    <p:sldId id="330" r:id="rId4"/>
    <p:sldId id="336" r:id="rId5"/>
    <p:sldId id="331" r:id="rId6"/>
    <p:sldId id="332" r:id="rId7"/>
    <p:sldId id="333" r:id="rId8"/>
    <p:sldId id="334" r:id="rId9"/>
    <p:sldId id="335" r:id="rId10"/>
    <p:sldId id="337" r:id="rId11"/>
    <p:sldId id="353" r:id="rId12"/>
    <p:sldId id="338" r:id="rId13"/>
    <p:sldId id="339" r:id="rId14"/>
    <p:sldId id="340" r:id="rId15"/>
    <p:sldId id="341" r:id="rId16"/>
    <p:sldId id="342" r:id="rId17"/>
    <p:sldId id="350" r:id="rId18"/>
    <p:sldId id="351" r:id="rId19"/>
    <p:sldId id="352" r:id="rId20"/>
    <p:sldId id="344" r:id="rId21"/>
    <p:sldId id="345" r:id="rId22"/>
    <p:sldId id="328" r:id="rId23"/>
  </p:sldIdLst>
  <p:sldSz cx="9144000" cy="6858000" type="screen4x3"/>
  <p:notesSz cx="6797675" cy="99266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7E00A9E2-119D-40EF-A5C0-65315EDCDA39}">
          <p14:sldIdLst>
            <p14:sldId id="296"/>
            <p14:sldId id="329"/>
            <p14:sldId id="330"/>
            <p14:sldId id="336"/>
            <p14:sldId id="331"/>
            <p14:sldId id="332"/>
            <p14:sldId id="333"/>
            <p14:sldId id="334"/>
            <p14:sldId id="335"/>
            <p14:sldId id="337"/>
            <p14:sldId id="353"/>
            <p14:sldId id="338"/>
            <p14:sldId id="339"/>
            <p14:sldId id="340"/>
            <p14:sldId id="341"/>
            <p14:sldId id="342"/>
            <p14:sldId id="350"/>
            <p14:sldId id="351"/>
            <p14:sldId id="352"/>
            <p14:sldId id="344"/>
            <p14:sldId id="345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DBF"/>
    <a:srgbClr val="374E9C"/>
    <a:srgbClr val="989A9D"/>
    <a:srgbClr val="425FBC"/>
    <a:srgbClr val="495861"/>
    <a:srgbClr val="2A3978"/>
    <a:srgbClr val="2D357F"/>
    <a:srgbClr val="233263"/>
    <a:srgbClr val="243466"/>
    <a:srgbClr val="1A3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Estilo Escuro 1 - Destaqu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Estilo com Tema 2 - Destaqu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Destaqu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em Estilo, Sem Grelh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Destaqu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46F890A9-2807-4EBB-B81D-B2AA78EC7F39}" styleName="Estilo Escuro 2 - Destaque 5/Destaqu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Destaque 1/Destaqu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Destaque 3/Destaqu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AF606853-7671-496A-8E4F-DF71F8EC918B}" styleName="Estilo Escuro 1 - Destaqu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Estilo Escuro 1 - Destaque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Estilo Médio 2 - Destaqu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Destaqu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Destaqu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Destaqu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6527" autoAdjust="0"/>
    <p:restoredTop sz="94676" autoAdjust="0"/>
  </p:normalViewPr>
  <p:slideViewPr>
    <p:cSldViewPr>
      <p:cViewPr varScale="1">
        <p:scale>
          <a:sx n="74" d="100"/>
          <a:sy n="74" d="100"/>
        </p:scale>
        <p:origin x="16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51A61520-B44A-B3EA-1F2F-CF3E16D2A8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D23D2FA-1592-3690-C78E-794B4A7A83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B1E00-6628-417D-807A-15B51CDB850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CD45F84-8774-4DE5-EC4A-3C8817A17D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48200BD-4175-03A0-7B0E-16AB7264CB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FD918-AB3B-4F7A-B658-6C341C30F7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178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20B12-CA3B-43AE-8EA9-BE21E357C4A2}" type="datetimeFigureOut">
              <a:rPr lang="pt-PT" smtClean="0"/>
              <a:pPr/>
              <a:t>18/03/2025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3E0ED-A8F9-40F6-9FDB-39BC2D7FC4E0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498554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216F3-9BA3-4867-ABAE-26125BCFBDCD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9223-BCE3-4A62-97FB-D4060E8C16DC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7578-E956-43C9-8E4D-8B2DFF5081AF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503B-297F-476B-BDAC-EA08AAC06EAF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8DD04-52D3-40ED-A34A-852C9F53B4E5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DF3C9-E003-446F-9DF7-57D79AEB50B1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3E144-2E01-42B8-B3F5-7E007DFAE2D8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CBBB1-B844-4654-B226-A7F5B1394EA0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960A-83B9-4B32-9E27-C04020E5AC68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8AB45-1F73-49B8-B8F9-45C5BBD5F4F5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BB8-F59D-41B8-8736-CECDA71FF702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6B52F-B6E5-4C25-BCD6-D81BFA0B7D07}" type="datetime1">
              <a:rPr lang="pt-PT" smtClean="0"/>
              <a:pPr/>
              <a:t>18/03/2025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F5C2C-51E4-47E4-9DFB-3AC4C5D92474}" type="slidenum">
              <a:rPr lang="pt-PT" smtClean="0"/>
              <a:pPr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5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700"/>
            <a:ext cx="9907588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965" y="3675112"/>
            <a:ext cx="38290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ângulo 2"/>
          <p:cNvSpPr/>
          <p:nvPr/>
        </p:nvSpPr>
        <p:spPr>
          <a:xfrm>
            <a:off x="5220072" y="3472242"/>
            <a:ext cx="3734695" cy="1108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CaixaDeTexto 1"/>
          <p:cNvSpPr txBox="1"/>
          <p:nvPr/>
        </p:nvSpPr>
        <p:spPr>
          <a:xfrm>
            <a:off x="5220072" y="3573016"/>
            <a:ext cx="40324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b="1" dirty="0">
                <a:latin typeface="Myriad Pro" pitchFamily="34" charset="0"/>
              </a:rPr>
              <a:t>ISUTC</a:t>
            </a:r>
            <a:r>
              <a:rPr lang="pt-PT" dirty="0">
                <a:latin typeface="Myriad Pro" pitchFamily="34" charset="0"/>
              </a:rPr>
              <a:t> INSTITUTO </a:t>
            </a:r>
            <a:r>
              <a:rPr lang="pt-PT" b="1" dirty="0">
                <a:latin typeface="Myriad Pro" pitchFamily="34" charset="0"/>
              </a:rPr>
              <a:t>SUPERIOR</a:t>
            </a:r>
            <a:r>
              <a:rPr lang="pt-PT" dirty="0">
                <a:latin typeface="Myriad Pro" pitchFamily="34" charset="0"/>
              </a:rPr>
              <a:t> DE </a:t>
            </a:r>
          </a:p>
          <a:p>
            <a:r>
              <a:rPr lang="pt-PT" b="1" dirty="0">
                <a:latin typeface="Myriad Pro" pitchFamily="34" charset="0"/>
              </a:rPr>
              <a:t>TRANSPORTES</a:t>
            </a:r>
            <a:r>
              <a:rPr lang="pt-PT" dirty="0">
                <a:latin typeface="Myriad Pro" pitchFamily="34" charset="0"/>
              </a:rPr>
              <a:t> E </a:t>
            </a:r>
            <a:r>
              <a:rPr lang="pt-PT" b="1" dirty="0">
                <a:latin typeface="Myriad Pro" pitchFamily="34" charset="0"/>
              </a:rPr>
              <a:t>COMUNICAÇÕES</a:t>
            </a:r>
          </a:p>
        </p:txBody>
      </p:sp>
      <p:pic>
        <p:nvPicPr>
          <p:cNvPr id="2053" name="Picture 5" descr="C:\Users\smaia.ISUTC\Desktop\ENTER\logos\ISUTC ProfPic 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763805"/>
            <a:ext cx="3024336" cy="141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486BA11-18F6-40BF-8537-48B9C0AB6240}"/>
              </a:ext>
            </a:extLst>
          </p:cNvPr>
          <p:cNvSpPr/>
          <p:nvPr/>
        </p:nvSpPr>
        <p:spPr>
          <a:xfrm>
            <a:off x="273274" y="2839582"/>
            <a:ext cx="46805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a-E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aa-E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aa-E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lógica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2863B4D-5345-4B14-88EE-68C70CF0F0DE}"/>
              </a:ext>
            </a:extLst>
          </p:cNvPr>
          <p:cNvSpPr/>
          <p:nvPr/>
        </p:nvSpPr>
        <p:spPr>
          <a:xfrm>
            <a:off x="539552" y="6013047"/>
            <a:ext cx="4680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a-ET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  <a:r>
              <a:rPr lang="aa-E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a-ET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Juv</a:t>
            </a: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aa-ET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ncio</a:t>
            </a:r>
            <a:r>
              <a:rPr lang="aa-E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a-ET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Domingos</a:t>
            </a:r>
            <a:endParaRPr lang="pt-PT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251B217-6922-4C51-AD08-93B7E4C3504F}"/>
              </a:ext>
            </a:extLst>
          </p:cNvPr>
          <p:cNvSpPr/>
          <p:nvPr/>
        </p:nvSpPr>
        <p:spPr>
          <a:xfrm>
            <a:off x="383246" y="338026"/>
            <a:ext cx="46805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a-E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Cadeira</a:t>
            </a:r>
            <a:r>
              <a:rPr lang="aa-E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a-E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aa-E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tica</a:t>
            </a:r>
            <a:r>
              <a:rPr lang="aa-E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a-E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Geral</a:t>
            </a:r>
            <a:r>
              <a:rPr lang="aa-E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A901C18-7ADD-4899-B37A-77146C982ADF}"/>
              </a:ext>
            </a:extLst>
          </p:cNvPr>
          <p:cNvSpPr/>
          <p:nvPr/>
        </p:nvSpPr>
        <p:spPr>
          <a:xfrm>
            <a:off x="397445" y="886824"/>
            <a:ext cx="46805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a-E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Aula </a:t>
            </a:r>
            <a:r>
              <a:rPr lang="aa-E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aa-E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rica</a:t>
            </a:r>
            <a:r>
              <a:rPr lang="aa-E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D1BACAF-737D-455B-8903-47D3ECE3D231}"/>
              </a:ext>
            </a:extLst>
          </p:cNvPr>
          <p:cNvSpPr/>
          <p:nvPr/>
        </p:nvSpPr>
        <p:spPr>
          <a:xfrm>
            <a:off x="396025" y="1890674"/>
            <a:ext cx="46805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a-E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Turmas</a:t>
            </a:r>
            <a:r>
              <a:rPr lang="aa-E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LECC11 &amp; LECC12  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60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26233" y="0"/>
            <a:ext cx="9162526" cy="6858000"/>
            <a:chOff x="0" y="0"/>
            <a:chExt cx="9162526" cy="6858000"/>
          </a:xfrm>
        </p:grpSpPr>
        <p:pic>
          <p:nvPicPr>
            <p:cNvPr id="13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18526" y="0"/>
              <a:ext cx="9144000" cy="242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A46360E-C59F-4915-94DC-06C327566DDD}"/>
              </a:ext>
            </a:extLst>
          </p:cNvPr>
          <p:cNvSpPr/>
          <p:nvPr/>
        </p:nvSpPr>
        <p:spPr>
          <a:xfrm>
            <a:off x="2994990" y="1444486"/>
            <a:ext cx="30922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a-E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roposiçõ</a:t>
            </a:r>
            <a:r>
              <a:rPr lang="aa-E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a-E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a-E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aa-E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aa-E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aa-E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E2D0226-55FC-4092-9C6C-A6218CB41446}"/>
              </a:ext>
            </a:extLst>
          </p:cNvPr>
          <p:cNvSpPr/>
          <p:nvPr/>
        </p:nvSpPr>
        <p:spPr>
          <a:xfrm>
            <a:off x="395536" y="1988840"/>
            <a:ext cx="8208912" cy="1289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Charna-se proposção ou sentença toda oração declarativa que pode ser classificada em verdadeira ou em falsa. Observe</a:t>
            </a: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que toda proposição apresenta três características obrigatórias: 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39112F2-FC83-452F-BBA3-430EE0E90386}"/>
              </a:ext>
            </a:extLst>
          </p:cNvPr>
          <p:cNvSpPr/>
          <p:nvPr/>
        </p:nvSpPr>
        <p:spPr>
          <a:xfrm>
            <a:off x="611560" y="3833436"/>
            <a:ext cx="8208912" cy="1704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endo oraçãoo, te</a:t>
            </a: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sujeito e predicado; </a:t>
            </a:r>
            <a:endParaRPr lang="aa-E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eclarativa (</a:t>
            </a: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ão é excla</a:t>
            </a: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ativa ne</a:t>
            </a: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interrogativa);</a:t>
            </a:r>
            <a:endParaRPr lang="aa-E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 sornente u</a:t>
            </a: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dos dois valores </a:t>
            </a:r>
            <a:r>
              <a:rPr lang="aa-E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ógicos: ou e verdadeira (V) ou e falsa (F). 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07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9148223" cy="6858000"/>
            <a:chOff x="0" y="0"/>
            <a:chExt cx="9148223" cy="6858000"/>
          </a:xfrm>
        </p:grpSpPr>
        <p:pic>
          <p:nvPicPr>
            <p:cNvPr id="13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id="{ED43C42B-0412-4B7C-A094-FC7D24B18543}"/>
                  </a:ext>
                </a:extLst>
              </p:cNvPr>
              <p:cNvSpPr/>
              <p:nvPr/>
            </p:nvSpPr>
            <p:spPr>
              <a:xfrm>
                <a:off x="971600" y="1484784"/>
                <a:ext cx="7632848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</a:t>
                </a:r>
                <a:r>
                  <a:rPr lang="aa-ET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pt-B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</a:t>
                </a:r>
                <a:endParaRPr lang="aa-ET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São proposiçõs: </a:t>
                </a:r>
                <a:endParaRPr lang="aa-E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Nove é diferente de cinco. (9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5) </a:t>
                </a:r>
                <a:endParaRPr lang="aa-E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Sete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rnaior que três. (7 &gt; 3) </a:t>
                </a:r>
                <a:endParaRPr lang="aa-E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u</a:t>
                </a:r>
                <a:r>
                  <a:rPr lang="aa-E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nú</a:t>
                </a:r>
                <a:r>
                  <a:rPr lang="aa-E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aa-E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inteiro. (</a:t>
                </a:r>
                <a14:m>
                  <m:oMath xmlns:m="http://schemas.openxmlformats.org/officeDocument/2006/math">
                    <m:r>
                      <a:rPr lang="aa-ET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aa-E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aa-E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.) </a:t>
                </a:r>
                <a:endParaRPr lang="aa-E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divisor de onze. (</a:t>
                </a:r>
                <a14:m>
                  <m:oMath xmlns:m="http://schemas.openxmlformats.org/officeDocument/2006/math">
                    <m:r>
                      <a:rPr lang="aa-ET" b="0" i="1" smtClean="0">
                        <a:latin typeface="Cambria Math" panose="02040503050406030204" pitchFamily="18" charset="0"/>
                      </a:rPr>
                      <m:t>3|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Quatro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vezes cinco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igual a vinte. (4 . 5 = 20) </a:t>
                </a:r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Dessas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proposi~6es , todas sao verdadeiras exceto d</a:t>
                </a:r>
                <a:r>
                  <a:rPr lang="pt-BR" dirty="0"/>
                  <a:t>.</a:t>
                </a:r>
                <a:endParaRPr lang="pt-PT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D43C42B-0412-4B7C-A094-FC7D24B185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484784"/>
                <a:ext cx="7632848" cy="3416320"/>
              </a:xfrm>
              <a:prstGeom prst="rect">
                <a:avLst/>
              </a:prstGeom>
              <a:blipFill rotWithShape="0">
                <a:blip r:embed="rId4"/>
                <a:stretch>
                  <a:fillRect l="-639" b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41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15C1EB-F125-4228-A928-FD1F0794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4</a:t>
            </a:fld>
            <a:endParaRPr lang="pt-PT"/>
          </a:p>
        </p:txBody>
      </p:sp>
      <p:grpSp>
        <p:nvGrpSpPr>
          <p:cNvPr id="5" name="Grupo 2">
            <a:extLst>
              <a:ext uri="{FF2B5EF4-FFF2-40B4-BE49-F238E27FC236}">
                <a16:creationId xmlns="" xmlns:a16="http://schemas.microsoft.com/office/drawing/2014/main" id="{C97B42B0-1546-43C1-B731-3937CF76256E}"/>
              </a:ext>
            </a:extLst>
          </p:cNvPr>
          <p:cNvGrpSpPr/>
          <p:nvPr/>
        </p:nvGrpSpPr>
        <p:grpSpPr>
          <a:xfrm>
            <a:off x="26233" y="0"/>
            <a:ext cx="9162526" cy="6858000"/>
            <a:chOff x="0" y="0"/>
            <a:chExt cx="9162526" cy="6858000"/>
          </a:xfrm>
        </p:grpSpPr>
        <p:pic>
          <p:nvPicPr>
            <p:cNvPr id="6" name="Picture 6" descr="C:\Users\smaia.ISUTC\Desktop\template-ap-pwp_ISUTC.jpg">
              <a:extLst>
                <a:ext uri="{FF2B5EF4-FFF2-40B4-BE49-F238E27FC236}">
                  <a16:creationId xmlns="" xmlns:a16="http://schemas.microsoft.com/office/drawing/2014/main" id="{B981F3B5-BB8C-4014-9A72-7C6D14BEEB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18526" y="0"/>
              <a:ext cx="9144000" cy="242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>
              <a:extLst>
                <a:ext uri="{FF2B5EF4-FFF2-40B4-BE49-F238E27FC236}">
                  <a16:creationId xmlns="" xmlns:a16="http://schemas.microsoft.com/office/drawing/2014/main" id="{2884EAE2-5763-49C3-B90B-4D22F582AF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tângulo 1"/>
              <p:cNvSpPr/>
              <p:nvPr/>
            </p:nvSpPr>
            <p:spPr>
              <a:xfrm>
                <a:off x="467544" y="1517201"/>
                <a:ext cx="7056784" cy="29915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Nao sao consideradas proposições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frases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f)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vezes cinco mais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um.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 . 5 + 1) </a:t>
                </a:r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 raiz quadrada de dois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número racional?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?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triplo de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 número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menos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igual a onze. (3x - 1 = 11) </a:t>
                </a:r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frase j não tem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predicado, a frase g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interrogativa e a frase h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não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pode ser classificada em verdadeira ou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falsa..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tâ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517201"/>
                <a:ext cx="7056784" cy="2991588"/>
              </a:xfrm>
              <a:prstGeom prst="rect">
                <a:avLst/>
              </a:prstGeom>
              <a:blipFill rotWithShape="0">
                <a:blip r:embed="rId4"/>
                <a:stretch>
                  <a:fillRect l="-778" b="-2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6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1211" y="-2395"/>
            <a:ext cx="9148223" cy="6858000"/>
            <a:chOff x="0" y="0"/>
            <a:chExt cx="9148223" cy="6858000"/>
          </a:xfrm>
        </p:grpSpPr>
        <p:pic>
          <p:nvPicPr>
            <p:cNvPr id="13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tângulo 1"/>
          <p:cNvSpPr/>
          <p:nvPr/>
        </p:nvSpPr>
        <p:spPr>
          <a:xfrm>
            <a:off x="2843808" y="1392771"/>
            <a:ext cx="31862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 err="1" smtClean="0"/>
              <a:t>Nega</a:t>
            </a:r>
            <a:r>
              <a:rPr lang="en-US" sz="2000" b="1" u="sng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çã</a:t>
            </a:r>
            <a:r>
              <a:rPr lang="en-US" sz="2000" b="1" u="sng" dirty="0" err="1" smtClean="0"/>
              <a:t>o</a:t>
            </a:r>
            <a:r>
              <a:rPr lang="en-US" sz="2000" b="1" u="sng" dirty="0" smtClean="0"/>
              <a:t> de </a:t>
            </a:r>
            <a:r>
              <a:rPr lang="en-US" sz="2000" b="1" u="sng" dirty="0" err="1" smtClean="0"/>
              <a:t>uma</a:t>
            </a:r>
            <a:r>
              <a:rPr lang="en-US" sz="2000" b="1" u="sng" dirty="0" smtClean="0"/>
              <a:t> </a:t>
            </a:r>
            <a:r>
              <a:rPr lang="en-US" sz="2000" b="1" u="sng" dirty="0" err="1" smtClean="0"/>
              <a:t>proposi</a:t>
            </a:r>
            <a:r>
              <a:rPr lang="en-US" sz="2000" b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çã</a:t>
            </a:r>
            <a:r>
              <a:rPr lang="en-US" sz="2000" b="1" u="sng" dirty="0" err="1"/>
              <a:t>o</a:t>
            </a:r>
            <a:endParaRPr lang="en-US" sz="20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827584" y="1988840"/>
                <a:ext cx="7704856" cy="8735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partir de uma proposição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qualquer, sempre podemos construir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outra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denominada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negação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indicada com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símbolo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988840"/>
                <a:ext cx="7704856" cy="873572"/>
              </a:xfrm>
              <a:prstGeom prst="rect">
                <a:avLst/>
              </a:prstGeom>
              <a:blipFill rotWithShape="0">
                <a:blip r:embed="rId4"/>
                <a:stretch>
                  <a:fillRect l="-712" b="-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813568" y="3060262"/>
                <a:ext cx="7992888" cy="8735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diferente de cinco.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≠5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   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igual a cinco. (9 = 5) </a:t>
                </a:r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maior que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três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menor ou igual 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três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68" y="3060262"/>
                <a:ext cx="7992888" cy="873572"/>
              </a:xfrm>
              <a:prstGeom prst="rect">
                <a:avLst/>
              </a:prstGeom>
              <a:blipFill rotWithShape="0">
                <a:blip r:embed="rId5"/>
                <a:stretch>
                  <a:fillRect b="-10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 8"/>
              <p:cNvSpPr/>
              <p:nvPr/>
            </p:nvSpPr>
            <p:spPr>
              <a:xfrm>
                <a:off x="683568" y="4646283"/>
                <a:ext cx="4842442" cy="92703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proposic</a:t>
                </a:r>
                <a:r>
                  <a:rPr lang="pt-BR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çã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sempre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valor oposto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isto </a:t>
                </a:r>
                <a:r>
                  <a:rPr lang="pt-BR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é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verdadeira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é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falsa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verdadeira.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tâ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646283"/>
                <a:ext cx="4842442" cy="927030"/>
              </a:xfrm>
              <a:prstGeom prst="rect">
                <a:avLst/>
              </a:prstGeom>
              <a:blipFill rotWithShape="0">
                <a:blip r:embed="rId6"/>
                <a:stretch>
                  <a:fillRect l="-752" t="-1923" r="-251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ixaDeTexto 9"/>
          <p:cNvSpPr txBox="1"/>
          <p:nvPr/>
        </p:nvSpPr>
        <p:spPr>
          <a:xfrm>
            <a:off x="6156176" y="4437112"/>
            <a:ext cx="2376264" cy="172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ela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401569"/>
                  </p:ext>
                </p:extLst>
              </p:nvPr>
            </p:nvGraphicFramePr>
            <p:xfrm>
              <a:off x="6005025" y="4622040"/>
              <a:ext cx="2448272" cy="10972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24136"/>
                    <a:gridCol w="1224136"/>
                  </a:tblGrid>
                  <a:tr h="3373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37385"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7385"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ela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401569"/>
                  </p:ext>
                </p:extLst>
              </p:nvPr>
            </p:nvGraphicFramePr>
            <p:xfrm>
              <a:off x="6005025" y="4622040"/>
              <a:ext cx="2448272" cy="109728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24136"/>
                    <a:gridCol w="122413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498" t="-1667" r="-10199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0498" t="-1667" r="-1990" b="-2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Retângulo 11"/>
          <p:cNvSpPr/>
          <p:nvPr/>
        </p:nvSpPr>
        <p:spPr>
          <a:xfrm>
            <a:off x="6173168" y="4160244"/>
            <a:ext cx="16248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Tabela-verdade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95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-4866" y="0"/>
            <a:ext cx="9148223" cy="6858000"/>
            <a:chOff x="0" y="0"/>
            <a:chExt cx="9148223" cy="6858000"/>
          </a:xfrm>
        </p:grpSpPr>
        <p:pic>
          <p:nvPicPr>
            <p:cNvPr id="13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tângulo 1"/>
              <p:cNvSpPr/>
              <p:nvPr/>
            </p:nvSpPr>
            <p:spPr>
              <a:xfrm>
                <a:off x="539552" y="1831846"/>
                <a:ext cx="8280920" cy="17574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Quais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sentenças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abaixo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são proposições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No caso das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proposições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quais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são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verdadeiras? </a:t>
                </a:r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lphaLcParenR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· 4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                               b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5 - 4 = 3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c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2 + 7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5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+ 3 </a:t>
                </a:r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5(3 + 1) = 5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+ 5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          e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1 + 3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+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         f)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tâ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831846"/>
                <a:ext cx="8280920" cy="1757404"/>
              </a:xfrm>
              <a:prstGeom prst="rect">
                <a:avLst/>
              </a:prstGeom>
              <a:blipFill rotWithShape="0">
                <a:blip r:embed="rId4"/>
                <a:stretch>
                  <a:fillRect l="-663" t="-1730" b="-4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/>
          <p:cNvSpPr/>
          <p:nvPr/>
        </p:nvSpPr>
        <p:spPr>
          <a:xfrm>
            <a:off x="3563888" y="1368947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517997" y="4150533"/>
                <a:ext cx="8208912" cy="19465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Qual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negação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cada uma das seguintes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proposições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Que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negações são verdadeiras?</a:t>
                </a:r>
              </a:p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buAutoNum type="alphaLcParenR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7 = 21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b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3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(11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- 7)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               c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3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+ 1 &gt; 4 </a:t>
                </a:r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5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- 2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                             e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97" y="4150533"/>
                <a:ext cx="8208912" cy="1946559"/>
              </a:xfrm>
              <a:prstGeom prst="rect">
                <a:avLst/>
              </a:prstGeom>
              <a:blipFill rotWithShape="0">
                <a:blip r:embed="rId5"/>
                <a:stretch>
                  <a:fillRect l="-668" t="-1881" b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65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9148223" cy="6858000"/>
            <a:chOff x="0" y="0"/>
            <a:chExt cx="9148223" cy="6858000"/>
          </a:xfrm>
        </p:grpSpPr>
        <p:pic>
          <p:nvPicPr>
            <p:cNvPr id="13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tângulo 1"/>
          <p:cNvSpPr/>
          <p:nvPr/>
        </p:nvSpPr>
        <p:spPr>
          <a:xfrm>
            <a:off x="2483768" y="1360271"/>
            <a:ext cx="39022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Proposição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composta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Conectivos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tângulo 3"/>
              <p:cNvSpPr/>
              <p:nvPr/>
            </p:nvSpPr>
            <p:spPr>
              <a:xfrm>
                <a:off x="323528" y="1988841"/>
                <a:ext cx="8424936" cy="1289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partir de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proposições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dadas podemos construir novas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proposições mediante 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emprego de dois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símbolos lógicos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chamados conectivos: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conectivo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lê-se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e) 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conectivo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lê-se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ou).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988841"/>
                <a:ext cx="8424936" cy="1289071"/>
              </a:xfrm>
              <a:prstGeom prst="rect">
                <a:avLst/>
              </a:prstGeom>
              <a:blipFill rotWithShape="0">
                <a:blip r:embed="rId4"/>
                <a:stretch>
                  <a:fillRect l="-579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tângulo 4"/>
              <p:cNvSpPr/>
              <p:nvPr/>
            </p:nvSpPr>
            <p:spPr>
              <a:xfrm>
                <a:off x="683568" y="3438758"/>
                <a:ext cx="30524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Conectivo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pt-PT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pt-PT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onjunção</a:t>
                </a:r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438758"/>
                <a:ext cx="3052439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198" t="-8197" r="-79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tângulo 5"/>
              <p:cNvSpPr/>
              <p:nvPr/>
            </p:nvSpPr>
            <p:spPr>
              <a:xfrm>
                <a:off x="683568" y="3867626"/>
                <a:ext cx="806489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Colocando 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conectivo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 duas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proposições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obtemos uma nova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proposicção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denominada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conjunção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sentenças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867626"/>
                <a:ext cx="8064896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605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ângulo 6"/>
              <p:cNvSpPr/>
              <p:nvPr/>
            </p:nvSpPr>
            <p:spPr>
              <a:xfrm>
                <a:off x="539552" y="4581128"/>
                <a:ext cx="8208912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a) p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 &gt; 0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q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:2&gt;0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quadrado de lado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diagonal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um quadrado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lado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área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um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quadrado de lado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diagonal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área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581128"/>
                <a:ext cx="8208912" cy="1754326"/>
              </a:xfrm>
              <a:prstGeom prst="rect">
                <a:avLst/>
              </a:prstGeom>
              <a:blipFill rotWithShape="0">
                <a:blip r:embed="rId7"/>
                <a:stretch>
                  <a:fillRect l="-669" b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51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9148223" cy="6858000"/>
            <a:chOff x="0" y="0"/>
            <a:chExt cx="9148223" cy="6858000"/>
          </a:xfrm>
        </p:grpSpPr>
        <p:pic>
          <p:nvPicPr>
            <p:cNvPr id="13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tângulo 4"/>
          <p:cNvSpPr/>
          <p:nvPr/>
        </p:nvSpPr>
        <p:spPr>
          <a:xfrm>
            <a:off x="2411760" y="1350513"/>
            <a:ext cx="39022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Proposição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composta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Conectivos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tângulo 5"/>
              <p:cNvSpPr/>
              <p:nvPr/>
            </p:nvSpPr>
            <p:spPr>
              <a:xfrm>
                <a:off x="467544" y="2108105"/>
                <a:ext cx="29626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Conectivo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pt-PT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Disjunção</a:t>
                </a:r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108105"/>
                <a:ext cx="2962671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440" t="-10000" r="-61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ângulo 6"/>
              <p:cNvSpPr/>
              <p:nvPr/>
            </p:nvSpPr>
            <p:spPr>
              <a:xfrm>
                <a:off x="330423" y="2635133"/>
                <a:ext cx="806489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Colocando 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conectivo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 duas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proposições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obtemos uma nova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proposicção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denominada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disjunção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sentenças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23" y="2635133"/>
                <a:ext cx="8064896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605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tângulo 8"/>
              <p:cNvSpPr/>
              <p:nvPr/>
            </p:nvSpPr>
            <p:spPr>
              <a:xfrm>
                <a:off x="311710" y="3439160"/>
                <a:ext cx="8208912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a) p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 &gt; 0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q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:2&gt;0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quadrado de lado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diagonal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um quadrado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lado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área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um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quadrado de lado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diagonal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área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tâ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10" y="3439160"/>
                <a:ext cx="8208912" cy="1754326"/>
              </a:xfrm>
              <a:prstGeom prst="rect">
                <a:avLst/>
              </a:prstGeom>
              <a:blipFill rotWithShape="0">
                <a:blip r:embed="rId6"/>
                <a:stretch>
                  <a:fillRect l="-594" b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636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-26914"/>
            <a:ext cx="9148223" cy="6858000"/>
            <a:chOff x="0" y="0"/>
            <a:chExt cx="9148223" cy="6858000"/>
          </a:xfrm>
        </p:grpSpPr>
        <p:pic>
          <p:nvPicPr>
            <p:cNvPr id="13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Retângulo 5"/>
          <p:cNvSpPr/>
          <p:nvPr/>
        </p:nvSpPr>
        <p:spPr>
          <a:xfrm>
            <a:off x="1547664" y="1381257"/>
            <a:ext cx="56841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Valor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lógico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roposição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composta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Conectivos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tângulo 4"/>
              <p:cNvSpPr/>
              <p:nvPr/>
            </p:nvSpPr>
            <p:spPr>
              <a:xfrm>
                <a:off x="1043608" y="1934996"/>
                <a:ext cx="7056784" cy="741213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conjunção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verdadeira 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são ambas verdadeiras,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ao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menos uma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delas for falsa,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então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falsa. 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934996"/>
                <a:ext cx="7056784" cy="741213"/>
              </a:xfrm>
              <a:prstGeom prst="rect">
                <a:avLst/>
              </a:prstGeom>
              <a:blipFill rotWithShape="0">
                <a:blip r:embed="rId4"/>
                <a:stretch>
                  <a:fillRect l="-516" t="-1587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0288037"/>
                  </p:ext>
                </p:extLst>
              </p:nvPr>
            </p:nvGraphicFramePr>
            <p:xfrm>
              <a:off x="1979712" y="2775304"/>
              <a:ext cx="3768081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56027"/>
                    <a:gridCol w="1256027"/>
                    <a:gridCol w="1256027"/>
                  </a:tblGrid>
                  <a:tr h="33218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0288037"/>
                  </p:ext>
                </p:extLst>
              </p:nvPr>
            </p:nvGraphicFramePr>
            <p:xfrm>
              <a:off x="1979712" y="2775304"/>
              <a:ext cx="3768081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56027"/>
                    <a:gridCol w="1256027"/>
                    <a:gridCol w="1256027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485" t="-1667" r="-202913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0000" t="-1667" r="-101932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00971" t="-1667" r="-2427" b="-4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tângulo 9"/>
              <p:cNvSpPr/>
              <p:nvPr/>
            </p:nvSpPr>
            <p:spPr>
              <a:xfrm>
                <a:off x="467544" y="4437112"/>
                <a:ext cx="8208912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a) p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 &gt; 0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q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:2&gt;0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quadrado de lado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diagonal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um quadrado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lado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área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um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quadrado de lado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diagonal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área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PT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pt-PT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pt-PT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etâ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437112"/>
                <a:ext cx="8208912" cy="1754326"/>
              </a:xfrm>
              <a:prstGeom prst="rect">
                <a:avLst/>
              </a:prstGeom>
              <a:blipFill rotWithShape="0">
                <a:blip r:embed="rId6"/>
                <a:stretch>
                  <a:fillRect l="-669" b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286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10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0" y="17804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tângulo 7"/>
          <p:cNvSpPr/>
          <p:nvPr/>
        </p:nvSpPr>
        <p:spPr>
          <a:xfrm>
            <a:off x="1547664" y="1381257"/>
            <a:ext cx="56841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Valor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lógico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roposição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composta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Conectivos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tângulo 8"/>
              <p:cNvSpPr/>
              <p:nvPr/>
            </p:nvSpPr>
            <p:spPr>
              <a:xfrm>
                <a:off x="861364" y="2118925"/>
                <a:ext cx="7056784" cy="741213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conjunção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falsa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são ambas falsas,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ao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menos uma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delas for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verdadeira, então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verdadeira. 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tâ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64" y="2118925"/>
                <a:ext cx="7056784" cy="741213"/>
              </a:xfrm>
              <a:prstGeom prst="rect">
                <a:avLst/>
              </a:prstGeom>
              <a:blipFill rotWithShape="0">
                <a:blip r:embed="rId4"/>
                <a:stretch>
                  <a:fillRect l="-516" t="-240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ela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8914919"/>
                  </p:ext>
                </p:extLst>
              </p:nvPr>
            </p:nvGraphicFramePr>
            <p:xfrm>
              <a:off x="1691680" y="2968088"/>
              <a:ext cx="3768081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56027"/>
                    <a:gridCol w="1256027"/>
                    <a:gridCol w="1256027"/>
                  </a:tblGrid>
                  <a:tr h="33218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ela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8914919"/>
                  </p:ext>
                </p:extLst>
              </p:nvPr>
            </p:nvGraphicFramePr>
            <p:xfrm>
              <a:off x="1691680" y="2968088"/>
              <a:ext cx="3768081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56027"/>
                    <a:gridCol w="1256027"/>
                    <a:gridCol w="1256027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485" t="-1667" r="-20242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0000" t="-1667" r="-10144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00971" t="-1667" r="-1942" b="-428333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tângulo 10"/>
              <p:cNvSpPr/>
              <p:nvPr/>
            </p:nvSpPr>
            <p:spPr>
              <a:xfrm>
                <a:off x="477888" y="4511639"/>
                <a:ext cx="8208912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a) p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 &gt; 0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q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:2&gt;0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pt-B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pt-BR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quadrado de lado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diagonal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um quadrado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lado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área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um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quadrado de lado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diagonal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área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PT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pt-PT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pt-PT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etâ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8" y="4511639"/>
                <a:ext cx="8208912" cy="1754326"/>
              </a:xfrm>
              <a:prstGeom prst="rect">
                <a:avLst/>
              </a:prstGeom>
              <a:blipFill rotWithShape="0">
                <a:blip r:embed="rId6"/>
                <a:stretch>
                  <a:fillRect l="-594" b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99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11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0" y="17804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tângulo 7"/>
          <p:cNvSpPr/>
          <p:nvPr/>
        </p:nvSpPr>
        <p:spPr>
          <a:xfrm>
            <a:off x="2915816" y="1420155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Primeiras</a:t>
            </a:r>
            <a:r>
              <a:rPr lang="en-US" sz="2000" b="1" dirty="0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leis </a:t>
            </a:r>
            <a:r>
              <a:rPr lang="en-US" sz="2000" b="1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2000" b="1" dirty="0" err="1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sz="2000" b="1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Morgan</a:t>
            </a: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95536" y="2086526"/>
            <a:ext cx="8424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1D35"/>
                </a:solidFill>
                <a:latin typeface="Google Sans"/>
              </a:rPr>
              <a:t>A negação de uma conjunção é equivalente à disjunção das </a:t>
            </a:r>
            <a:r>
              <a:rPr lang="pt-BR" dirty="0" smtClean="0">
                <a:solidFill>
                  <a:srgbClr val="001D35"/>
                </a:solidFill>
                <a:latin typeface="Google Sans"/>
              </a:rPr>
              <a:t>negações</a:t>
            </a:r>
            <a:r>
              <a:rPr lang="pt-BR" dirty="0">
                <a:solidFill>
                  <a:srgbClr val="001D35"/>
                </a:solidFill>
                <a:latin typeface="Google Sans"/>
              </a:rPr>
              <a:t>.</a:t>
            </a:r>
            <a:endParaRPr lang="pt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/>
              <p:cNvSpPr txBox="1"/>
              <p:nvPr/>
            </p:nvSpPr>
            <p:spPr>
              <a:xfrm>
                <a:off x="1043608" y="2698706"/>
                <a:ext cx="3312368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)⇔∼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pt-PT" dirty="0"/>
              </a:p>
            </p:txBody>
          </p:sp>
        </mc:Choice>
        <mc:Fallback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698706"/>
                <a:ext cx="3312368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129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tângulo 10"/>
          <p:cNvSpPr/>
          <p:nvPr/>
        </p:nvSpPr>
        <p:spPr>
          <a:xfrm>
            <a:off x="351823" y="3510075"/>
            <a:ext cx="8424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1D35"/>
                </a:solidFill>
                <a:latin typeface="Google Sans"/>
              </a:rPr>
              <a:t>A negação de </a:t>
            </a:r>
            <a:r>
              <a:rPr lang="pt-BR" dirty="0" smtClean="0">
                <a:solidFill>
                  <a:srgbClr val="001D35"/>
                </a:solidFill>
                <a:latin typeface="Google Sans"/>
              </a:rPr>
              <a:t>uma</a:t>
            </a:r>
            <a:r>
              <a:rPr lang="pt-BR" dirty="0">
                <a:solidFill>
                  <a:srgbClr val="001D35"/>
                </a:solidFill>
                <a:latin typeface="Google Sans"/>
              </a:rPr>
              <a:t> disjunção </a:t>
            </a:r>
            <a:r>
              <a:rPr lang="pt-BR" dirty="0" smtClean="0">
                <a:solidFill>
                  <a:srgbClr val="001D35"/>
                </a:solidFill>
                <a:latin typeface="Google Sans"/>
              </a:rPr>
              <a:t>é </a:t>
            </a:r>
            <a:r>
              <a:rPr lang="pt-BR" dirty="0">
                <a:solidFill>
                  <a:srgbClr val="001D35"/>
                </a:solidFill>
                <a:latin typeface="Google Sans"/>
              </a:rPr>
              <a:t>equivalente à conjunção </a:t>
            </a:r>
            <a:r>
              <a:rPr lang="pt-BR" dirty="0" smtClean="0">
                <a:solidFill>
                  <a:srgbClr val="001D35"/>
                </a:solidFill>
                <a:latin typeface="Google Sans"/>
              </a:rPr>
              <a:t>das negações</a:t>
            </a:r>
            <a:r>
              <a:rPr lang="pt-BR" dirty="0">
                <a:solidFill>
                  <a:srgbClr val="001D35"/>
                </a:solidFill>
                <a:latin typeface="Google Sans"/>
              </a:rPr>
              <a:t>.</a:t>
            </a:r>
            <a:endParaRPr lang="pt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/>
              <p:cNvSpPr txBox="1"/>
              <p:nvPr/>
            </p:nvSpPr>
            <p:spPr>
              <a:xfrm>
                <a:off x="1058192" y="3937177"/>
                <a:ext cx="3312368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)⇔∼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pt-PT" dirty="0"/>
              </a:p>
            </p:txBody>
          </p:sp>
        </mc:Choice>
        <mc:Fallback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92" y="3937177"/>
                <a:ext cx="331236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129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tângulo 12"/>
              <p:cNvSpPr/>
              <p:nvPr/>
            </p:nvSpPr>
            <p:spPr>
              <a:xfrm>
                <a:off x="395536" y="4515000"/>
                <a:ext cx="8424936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solidFill>
                      <a:srgbClr val="040C2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Exemplos</a:t>
                </a:r>
                <a:r>
                  <a:rPr lang="pt-BR" dirty="0" smtClean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Sendo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b="0" i="0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pt-BR" dirty="0" smtClean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João </a:t>
                </a:r>
                <a:r>
                  <a:rPr lang="pt-BR" dirty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vai ao </a:t>
                </a:r>
                <a:r>
                  <a:rPr lang="pt-BR" dirty="0" smtClean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futebol 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pt-BR" dirty="0" smtClean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 </a:t>
                </a:r>
                <a:r>
                  <a:rPr lang="pt-BR" dirty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vai ao cinema”. </a:t>
                </a:r>
                <a:endParaRPr lang="pt-BR" dirty="0" smtClean="0">
                  <a:solidFill>
                    <a:srgbClr val="1F1F1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b="0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pt-BR" dirty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João </a:t>
                </a:r>
                <a:r>
                  <a:rPr lang="pt-BR" dirty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vai ao </a:t>
                </a:r>
                <a:r>
                  <a:rPr lang="pt-BR" dirty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futebol 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1F1F1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BR" dirty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 </a:t>
                </a:r>
                <a:r>
                  <a:rPr lang="pt-BR" dirty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vai ao cinema </a:t>
                </a:r>
                <a:endParaRPr lang="pt-BR" dirty="0" smtClean="0">
                  <a:solidFill>
                    <a:srgbClr val="1F1F1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 smtClean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João </a:t>
                </a:r>
                <a:r>
                  <a:rPr lang="pt-BR" dirty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não vai ao futebol ou Ana não vai ao </a:t>
                </a:r>
                <a:r>
                  <a:rPr lang="pt-BR" dirty="0" smtClean="0">
                    <a:solidFill>
                      <a:srgbClr val="1F1F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cinema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etâ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515000"/>
                <a:ext cx="8424936" cy="1754326"/>
              </a:xfrm>
              <a:prstGeom prst="rect">
                <a:avLst/>
              </a:prstGeom>
              <a:blipFill rotWithShape="0">
                <a:blip r:embed="rId6"/>
                <a:stretch>
                  <a:fillRect l="-651" b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53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 animBg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12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0" y="0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tângulo 7"/>
          <p:cNvSpPr/>
          <p:nvPr/>
        </p:nvSpPr>
        <p:spPr>
          <a:xfrm>
            <a:off x="3347864" y="1484784"/>
            <a:ext cx="1800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Condicionais</a:t>
            </a: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tângulo 8"/>
              <p:cNvSpPr/>
              <p:nvPr/>
            </p:nvSpPr>
            <p:spPr>
              <a:xfrm>
                <a:off x="683568" y="2046878"/>
                <a:ext cx="8003232" cy="1289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Ainda a partir de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proposições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dadas podemos construir novas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proposições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mediante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emprego de outros dois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símbolos Iógicos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chamados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condicionais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condicional se ... entao ... (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símboIo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condicional ... se, 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somente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se, .. . (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símboIo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tâ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046878"/>
                <a:ext cx="8003232" cy="1289071"/>
              </a:xfrm>
              <a:prstGeom prst="rect">
                <a:avLst/>
              </a:prstGeom>
              <a:blipFill rotWithShape="0">
                <a:blip r:embed="rId4"/>
                <a:stretch>
                  <a:fillRect l="-609" r="-76" b="-7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tângulo 9"/>
              <p:cNvSpPr/>
              <p:nvPr/>
            </p:nvSpPr>
            <p:spPr>
              <a:xfrm>
                <a:off x="683568" y="3497933"/>
                <a:ext cx="18197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err="1" smtClean="0"/>
                  <a:t>Condicional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endParaRPr lang="pt-PT" b="1" dirty="0"/>
              </a:p>
            </p:txBody>
          </p:sp>
        </mc:Choice>
        <mc:Fallback>
          <p:sp>
            <p:nvSpPr>
              <p:cNvPr id="10" name="Retâ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497933"/>
                <a:ext cx="1819729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00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tângulo 10"/>
              <p:cNvSpPr/>
              <p:nvPr/>
            </p:nvSpPr>
            <p:spPr>
              <a:xfrm>
                <a:off x="827584" y="4028977"/>
                <a:ext cx="8064896" cy="1289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colocando 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condicional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 duas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proposições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obtemos uma nova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proposição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 se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Iê: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entao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condição necessária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condição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suficiente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etâ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028977"/>
                <a:ext cx="8064896" cy="1289071"/>
              </a:xfrm>
              <a:prstGeom prst="rect">
                <a:avLst/>
              </a:prstGeom>
              <a:blipFill rotWithShape="0">
                <a:blip r:embed="rId6"/>
                <a:stretch>
                  <a:fillRect l="-680" b="-7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19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13</a:t>
            </a:fld>
            <a:endParaRPr lang="pt-PT"/>
          </a:p>
        </p:txBody>
      </p:sp>
      <p:grpSp>
        <p:nvGrpSpPr>
          <p:cNvPr id="6" name="Grupo 5"/>
          <p:cNvGrpSpPr/>
          <p:nvPr/>
        </p:nvGrpSpPr>
        <p:grpSpPr>
          <a:xfrm>
            <a:off x="-4223" y="0"/>
            <a:ext cx="9148223" cy="6858000"/>
            <a:chOff x="0" y="0"/>
            <a:chExt cx="9148223" cy="6858000"/>
          </a:xfrm>
        </p:grpSpPr>
        <p:pic>
          <p:nvPicPr>
            <p:cNvPr id="7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tângulo 8"/>
              <p:cNvSpPr/>
              <p:nvPr/>
            </p:nvSpPr>
            <p:spPr>
              <a:xfrm>
                <a:off x="683568" y="1483129"/>
                <a:ext cx="813690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condicional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proposição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chamada antecedente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chamada consequente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tâ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83129"/>
                <a:ext cx="8136904" cy="646331"/>
              </a:xfrm>
              <a:prstGeom prst="rect">
                <a:avLst/>
              </a:prstGeom>
              <a:blipFill rotWithShape="0">
                <a:blip r:embed="rId4"/>
                <a:stretch>
                  <a:fillRect l="-599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tângulo 9"/>
              <p:cNvSpPr/>
              <p:nvPr/>
            </p:nvSpPr>
            <p:spPr>
              <a:xfrm>
                <a:off x="539552" y="2413338"/>
                <a:ext cx="8280920" cy="30008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divisor de quatro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quatro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divisor de vinte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|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dois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divisor de quatro,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então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quatro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divisor de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vinte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|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b="0" dirty="0" smtClean="0"/>
                  <a:t>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duas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vezes cinco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igual a dez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∙5=10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três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divisor de dez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|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vezes cinco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igual a dez,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então três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divisor de dez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∙5=10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|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etâ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413338"/>
                <a:ext cx="8280920" cy="3000821"/>
              </a:xfrm>
              <a:prstGeom prst="rect">
                <a:avLst/>
              </a:prstGeom>
              <a:blipFill rotWithShape="0">
                <a:blip r:embed="rId5"/>
                <a:stretch>
                  <a:fillRect l="-2577" b="-20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18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14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-4223" y="0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tângulo 7"/>
              <p:cNvSpPr/>
              <p:nvPr/>
            </p:nvSpPr>
            <p:spPr>
              <a:xfrm>
                <a:off x="395536" y="1989709"/>
                <a:ext cx="7560840" cy="864096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condicional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falso somente quando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verdadeira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falsa; caso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contrário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verdadeiro.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etâ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89709"/>
                <a:ext cx="7560840" cy="864096"/>
              </a:xfrm>
              <a:prstGeom prst="rect">
                <a:avLst/>
              </a:prstGeom>
              <a:blipFill rotWithShape="0">
                <a:blip r:embed="rId4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ângulo 11"/>
          <p:cNvSpPr/>
          <p:nvPr/>
        </p:nvSpPr>
        <p:spPr>
          <a:xfrm>
            <a:off x="2281777" y="130102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lógico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condicional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ela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406030"/>
                  </p:ext>
                </p:extLst>
              </p:nvPr>
            </p:nvGraphicFramePr>
            <p:xfrm>
              <a:off x="1691680" y="2990396"/>
              <a:ext cx="3768081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56027"/>
                    <a:gridCol w="1256027"/>
                    <a:gridCol w="1256027"/>
                  </a:tblGrid>
                  <a:tr h="33218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ela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406030"/>
                  </p:ext>
                </p:extLst>
              </p:nvPr>
            </p:nvGraphicFramePr>
            <p:xfrm>
              <a:off x="1691680" y="2990396"/>
              <a:ext cx="3768081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56027"/>
                    <a:gridCol w="1256027"/>
                    <a:gridCol w="1256027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485" t="-1667" r="-20242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0000" t="-1667" r="-10144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00971" t="-1667" r="-1942" b="-428333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4" name="Retângulo 13"/>
          <p:cNvSpPr/>
          <p:nvPr/>
        </p:nvSpPr>
        <p:spPr>
          <a:xfrm>
            <a:off x="1344035" y="5106848"/>
            <a:ext cx="5365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 proposi</a:t>
            </a:r>
            <a:r>
              <a:rPr 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çõ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anteriores a) </a:t>
            </a:r>
            <a:r>
              <a:rPr 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verdadeira e b) </a:t>
            </a:r>
            <a:r>
              <a:rPr 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falsa.  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558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15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-4223" y="0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upo 7"/>
          <p:cNvGrpSpPr/>
          <p:nvPr/>
        </p:nvGrpSpPr>
        <p:grpSpPr>
          <a:xfrm>
            <a:off x="0" y="0"/>
            <a:ext cx="9148223" cy="6858000"/>
            <a:chOff x="0" y="0"/>
            <a:chExt cx="9148223" cy="6858000"/>
          </a:xfrm>
        </p:grpSpPr>
        <p:pic>
          <p:nvPicPr>
            <p:cNvPr id="9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Retângulo 10"/>
          <p:cNvSpPr/>
          <p:nvPr/>
        </p:nvSpPr>
        <p:spPr>
          <a:xfrm>
            <a:off x="3347864" y="1484784"/>
            <a:ext cx="1800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Condicionais</a:t>
            </a: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tângulo 11"/>
              <p:cNvSpPr/>
              <p:nvPr/>
            </p:nvSpPr>
            <p:spPr>
              <a:xfrm>
                <a:off x="539552" y="2404300"/>
                <a:ext cx="19319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Condicional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endParaRPr lang="pt-PT" b="1" dirty="0"/>
              </a:p>
            </p:txBody>
          </p:sp>
        </mc:Choice>
        <mc:Fallback>
          <p:sp>
            <p:nvSpPr>
              <p:cNvPr id="12" name="Retâ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404300"/>
                <a:ext cx="1931939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215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tângulo 12"/>
              <p:cNvSpPr/>
              <p:nvPr/>
            </p:nvSpPr>
            <p:spPr>
              <a:xfrm>
                <a:off x="535329" y="2981255"/>
                <a:ext cx="8064896" cy="1338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Colocando 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condicional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 duas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proposições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obtemos uma nova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proposição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 se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Iê: 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se, e somente 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’’,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condição necessária e suficiente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condição necessária e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suficiente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 .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etâ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29" y="2981255"/>
                <a:ext cx="8064896" cy="1338828"/>
              </a:xfrm>
              <a:prstGeom prst="rect">
                <a:avLst/>
              </a:prstGeom>
              <a:blipFill rotWithShape="0">
                <a:blip r:embed="rId5"/>
                <a:stretch>
                  <a:fillRect l="-680" b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tângulo 13"/>
              <p:cNvSpPr/>
              <p:nvPr/>
            </p:nvSpPr>
            <p:spPr>
              <a:xfrm>
                <a:off x="395536" y="4348419"/>
                <a:ext cx="8291264" cy="24804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Exemplos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∙7</m:t>
                    </m:r>
                    <m:d>
                      <m:dPr>
                        <m:begChr m:val="|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12∙7</m:t>
                        </m:r>
                      </m:e>
                    </m:d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∙7</m:t>
                    </m:r>
                    <m:d>
                      <m:dPr>
                        <m:begChr m:val="|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12∙7</m:t>
                        </m:r>
                      </m:e>
                    </m:d>
                  </m:oMath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:3∙4≠2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∙6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PT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∙4≠2∙6</m:t>
                    </m:r>
                  </m:oMath>
                </a14:m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pt-PT" dirty="0" smtClean="0"/>
              </a:p>
              <a:p>
                <a:endParaRPr lang="pt-PT" dirty="0"/>
              </a:p>
            </p:txBody>
          </p:sp>
        </mc:Choice>
        <mc:Fallback>
          <p:sp>
            <p:nvSpPr>
              <p:cNvPr id="14" name="Retâ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348419"/>
                <a:ext cx="8291264" cy="2480423"/>
              </a:xfrm>
              <a:prstGeom prst="rect">
                <a:avLst/>
              </a:prstGeom>
              <a:blipFill rotWithShape="0">
                <a:blip r:embed="rId6"/>
                <a:stretch>
                  <a:fillRect l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11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16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-4223" y="0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tângulo 7"/>
              <p:cNvSpPr/>
              <p:nvPr/>
            </p:nvSpPr>
            <p:spPr>
              <a:xfrm>
                <a:off x="395536" y="1989709"/>
                <a:ext cx="7560840" cy="864096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condicional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verdadeiro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somente quando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ambas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verdadeira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 falsas;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contrário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falso.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etâ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89709"/>
                <a:ext cx="7560840" cy="864096"/>
              </a:xfrm>
              <a:prstGeom prst="rect">
                <a:avLst/>
              </a:prstGeom>
              <a:blipFill rotWithShape="0">
                <a:blip r:embed="rId4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ângulo 8"/>
          <p:cNvSpPr/>
          <p:nvPr/>
        </p:nvSpPr>
        <p:spPr>
          <a:xfrm>
            <a:off x="2281777" y="130102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lógico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condicional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ela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792451"/>
                  </p:ext>
                </p:extLst>
              </p:nvPr>
            </p:nvGraphicFramePr>
            <p:xfrm>
              <a:off x="1691680" y="2990396"/>
              <a:ext cx="3768081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56027"/>
                    <a:gridCol w="1256027"/>
                    <a:gridCol w="1256027"/>
                  </a:tblGrid>
                  <a:tr h="33218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2181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ela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792451"/>
                  </p:ext>
                </p:extLst>
              </p:nvPr>
            </p:nvGraphicFramePr>
            <p:xfrm>
              <a:off x="1691680" y="2990396"/>
              <a:ext cx="3768081" cy="18288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56027"/>
                    <a:gridCol w="1256027"/>
                    <a:gridCol w="1256027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485" t="-1667" r="-20242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0000" t="-1667" r="-10144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00971" t="-1667" r="-1942" b="-428333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PT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Retângulo 10"/>
          <p:cNvSpPr/>
          <p:nvPr/>
        </p:nvSpPr>
        <p:spPr>
          <a:xfrm>
            <a:off x="1344035" y="5106848"/>
            <a:ext cx="5365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 proposi</a:t>
            </a:r>
            <a:r>
              <a:rPr 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çõ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anteriores a) </a:t>
            </a:r>
            <a:r>
              <a:rPr 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verdadeira e b) </a:t>
            </a:r>
            <a:r>
              <a:rPr lang="pt-BR" dirty="0" smtClean="0">
                <a:latin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falsa.  </a:t>
            </a:r>
            <a:endParaRPr lang="pt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tângulo 11"/>
              <p:cNvSpPr/>
              <p:nvPr/>
            </p:nvSpPr>
            <p:spPr>
              <a:xfrm>
                <a:off x="1324036" y="5640499"/>
                <a:ext cx="37280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Nota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pt-PT" dirty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endParaRPr lang="pt-PT" dirty="0"/>
              </a:p>
            </p:txBody>
          </p:sp>
        </mc:Choice>
        <mc:Fallback>
          <p:sp>
            <p:nvSpPr>
              <p:cNvPr id="12" name="Retâ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036" y="5640499"/>
                <a:ext cx="3728072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307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78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17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0" y="0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tângulo 7"/>
          <p:cNvSpPr/>
          <p:nvPr/>
        </p:nvSpPr>
        <p:spPr>
          <a:xfrm>
            <a:off x="1115616" y="1355987"/>
            <a:ext cx="3790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Negação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proposições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condicionais</a:t>
            </a:r>
            <a:endParaRPr lang="pt-P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tângulo 8"/>
              <p:cNvSpPr/>
              <p:nvPr/>
            </p:nvSpPr>
            <p:spPr>
              <a:xfrm>
                <a:off x="921715" y="2119613"/>
                <a:ext cx="24484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)≡~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pt-PT" dirty="0"/>
              </a:p>
            </p:txBody>
          </p:sp>
        </mc:Choice>
        <mc:Fallback>
          <p:sp>
            <p:nvSpPr>
              <p:cNvPr id="9" name="Retâ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15" y="2119613"/>
                <a:ext cx="2448491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493" t="-5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tângulo 9"/>
              <p:cNvSpPr/>
              <p:nvPr/>
            </p:nvSpPr>
            <p:spPr>
              <a:xfrm>
                <a:off x="922209" y="2733039"/>
                <a:ext cx="37583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t-PT" dirty="0"/>
              </a:p>
            </p:txBody>
          </p:sp>
        </mc:Choice>
        <mc:Fallback>
          <p:sp>
            <p:nvSpPr>
              <p:cNvPr id="10" name="Retâ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209" y="2733039"/>
                <a:ext cx="3758337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72" t="-3279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ângulo 11"/>
          <p:cNvSpPr/>
          <p:nvPr/>
        </p:nvSpPr>
        <p:spPr>
          <a:xfrm>
            <a:off x="921715" y="3257801"/>
            <a:ext cx="3288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Contra-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Condicional</a:t>
            </a:r>
            <a:endParaRPr lang="pt-P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tângulo 12"/>
              <p:cNvSpPr/>
              <p:nvPr/>
            </p:nvSpPr>
            <p:spPr>
              <a:xfrm>
                <a:off x="319469" y="3825802"/>
                <a:ext cx="836327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pt-B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contra-positivo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uma proposição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condicional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obtido negando os dois termos e invertendo suas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posições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etâ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9" y="3825802"/>
                <a:ext cx="8363272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583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tângulo 13"/>
              <p:cNvSpPr/>
              <p:nvPr/>
            </p:nvSpPr>
            <p:spPr>
              <a:xfrm>
                <a:off x="319469" y="4608558"/>
                <a:ext cx="8645019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Proposta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original: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chove, então o chão fica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molhado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Contra-positivo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o chão não está molhado, então não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choveu 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Retâ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9" y="4608558"/>
                <a:ext cx="8645019" cy="1477328"/>
              </a:xfrm>
              <a:prstGeom prst="rect">
                <a:avLst/>
              </a:prstGeom>
              <a:blipFill rotWithShape="0">
                <a:blip r:embed="rId7"/>
                <a:stretch>
                  <a:fillRect l="-564" t="-247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988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18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-21873" y="-35840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tângulo 7"/>
          <p:cNvSpPr/>
          <p:nvPr/>
        </p:nvSpPr>
        <p:spPr>
          <a:xfrm>
            <a:off x="323528" y="1392771"/>
            <a:ext cx="31390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Converso da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Condicional</a:t>
            </a:r>
            <a:endParaRPr lang="pt-P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tângulo 8"/>
              <p:cNvSpPr/>
              <p:nvPr/>
            </p:nvSpPr>
            <p:spPr>
              <a:xfrm>
                <a:off x="251520" y="1988802"/>
                <a:ext cx="748883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pt-B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converso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simplesmente a tradução dos termos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pt-P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tâ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988802"/>
                <a:ext cx="7488832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65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tângulo 9"/>
              <p:cNvSpPr/>
              <p:nvPr/>
            </p:nvSpPr>
            <p:spPr>
              <a:xfrm>
                <a:off x="251520" y="2547497"/>
                <a:ext cx="8712968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Exemplo</a:t>
                </a:r>
                <a:endPara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Proposta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original: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chove, então o chão fica molhado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Conversar: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o chão está molhado, então choveu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 smtClean="0"/>
                  <a:t>.</a:t>
                </a:r>
                <a:endParaRPr lang="pt-BR" dirty="0"/>
              </a:p>
            </p:txBody>
          </p:sp>
        </mc:Choice>
        <mc:Fallback>
          <p:sp>
            <p:nvSpPr>
              <p:cNvPr id="10" name="Retâ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547497"/>
                <a:ext cx="8712968" cy="1477328"/>
              </a:xfrm>
              <a:prstGeom prst="rect">
                <a:avLst/>
              </a:prstGeom>
              <a:blipFill rotWithShape="0">
                <a:blip r:embed="rId5"/>
                <a:stretch>
                  <a:fillRect l="-559" t="-247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tângulo 10"/>
          <p:cNvSpPr/>
          <p:nvPr/>
        </p:nvSpPr>
        <p:spPr>
          <a:xfrm>
            <a:off x="251520" y="4214188"/>
            <a:ext cx="41035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Inverso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Condicional</a:t>
            </a:r>
            <a:endParaRPr lang="pt-P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tângulo 11"/>
              <p:cNvSpPr/>
              <p:nvPr/>
            </p:nvSpPr>
            <p:spPr>
              <a:xfrm>
                <a:off x="89566" y="4583520"/>
                <a:ext cx="844287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/>
                  <a:t>O </a:t>
                </a:r>
                <a:r>
                  <a:rPr lang="pt-BR" b="1" dirty="0"/>
                  <a:t>inverso</a:t>
                </a:r>
                <a:r>
                  <a:rPr lang="pt-BR" dirty="0"/>
                  <a:t> </a:t>
                </a:r>
                <a:r>
                  <a:rPr lang="pt-BR" dirty="0" smtClean="0"/>
                  <a:t>de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pt-BR" dirty="0" smtClean="0"/>
                  <a:t> é </a:t>
                </a:r>
                <a:r>
                  <a:rPr lang="pt-BR" dirty="0"/>
                  <a:t>obtido negando os dois termos, sem inverter a posição</a:t>
                </a:r>
                <a:r>
                  <a:rPr lang="pt-BR" dirty="0" smtClean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endParaRPr lang="pt-PT" dirty="0"/>
              </a:p>
            </p:txBody>
          </p:sp>
        </mc:Choice>
        <mc:Fallback>
          <p:sp>
            <p:nvSpPr>
              <p:cNvPr id="12" name="Retâ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6" y="4583520"/>
                <a:ext cx="8442874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5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tângulo 12"/>
              <p:cNvSpPr/>
              <p:nvPr/>
            </p:nvSpPr>
            <p:spPr>
              <a:xfrm>
                <a:off x="89566" y="4859348"/>
                <a:ext cx="8597234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Exemplo: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Proposta original: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chove, então o chão fica molhado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Inverso: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não chove, então o chão não está molhado </a:t>
                </a:r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pt-B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etâ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6" y="4859348"/>
                <a:ext cx="8597234" cy="1477328"/>
              </a:xfrm>
              <a:prstGeom prst="rect">
                <a:avLst/>
              </a:prstGeom>
              <a:blipFill rotWithShape="0">
                <a:blip r:embed="rId7"/>
                <a:stretch>
                  <a:fillRect l="-638" t="-2066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02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19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-21873" y="-35840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tângulo 7"/>
          <p:cNvSpPr/>
          <p:nvPr/>
        </p:nvSpPr>
        <p:spPr>
          <a:xfrm>
            <a:off x="3131840" y="1484784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Resumo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Relações</a:t>
            </a:r>
            <a:endParaRPr lang="pt-P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Tabela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9513506"/>
                  </p:ext>
                </p:extLst>
              </p:nvPr>
            </p:nvGraphicFramePr>
            <p:xfrm>
              <a:off x="323528" y="2132856"/>
              <a:ext cx="7920880" cy="3655659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328259"/>
                    <a:gridCol w="1488165"/>
                    <a:gridCol w="4104456"/>
                  </a:tblGrid>
                  <a:tr h="30962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Tipo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Notação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Exemplo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60602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Proposta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original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pt-B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 chove, então o chão fica molhado.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86574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Contra-</a:t>
                          </a:r>
                          <a:r>
                            <a:rPr lang="en-US" b="1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positivo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equivalente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pt-B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 o chão não está molhado, então não choveu.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5110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b="1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Conservo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Nem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sempre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equivalente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a:rPr lang="en-US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pt-B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 o chão está molhado, então choveu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5110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b="1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Inverso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Nem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sempreequivalente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→~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</m:oMath>
                            </m:oMathPara>
                          </a14:m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pt-B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 não chove, então o chão não está molhado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0" name="Tabela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9513506"/>
                  </p:ext>
                </p:extLst>
              </p:nvPr>
            </p:nvGraphicFramePr>
            <p:xfrm>
              <a:off x="323528" y="2132856"/>
              <a:ext cx="7920880" cy="3655659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328259"/>
                    <a:gridCol w="1488165"/>
                    <a:gridCol w="4104456"/>
                  </a:tblGrid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Tipo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Notação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Exemplo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60602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Proposta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original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56967" t="-76768" r="-277869" b="-447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pt-B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 chove, então o chão fica molhado.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86574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Contra-</a:t>
                          </a:r>
                          <a:r>
                            <a:rPr lang="en-US" b="1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positivo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equivalente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56967" t="-122378" r="-277869" b="-2097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pt-B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 o chão não está molhado, então não choveu.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86512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b="1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Conservo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Nem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sempre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equivalente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56967" t="-223944" r="-277869" b="-111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pt-B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 o chão está molhado, então choveu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86512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b="1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Inverso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Nem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sempreequivalente</a:t>
                          </a:r>
                          <a:r>
                            <a:rPr 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56967" t="-323944" r="-277869" b="-11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pt-B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 não chove, então o chão não está molhado</a:t>
                          </a:r>
                          <a:endParaRPr lang="pt-PT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4640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20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-4223" y="0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tângulo 7"/>
          <p:cNvSpPr/>
          <p:nvPr/>
        </p:nvSpPr>
        <p:spPr>
          <a:xfrm>
            <a:off x="3059832" y="1392771"/>
            <a:ext cx="2311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Equivalência</a:t>
            </a:r>
            <a:r>
              <a:rPr lang="en-US" sz="2000" b="1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lógica</a:t>
            </a: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95536" y="1930475"/>
            <a:ext cx="78488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Equivalência lógica é uma 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relação entre proposições que têm o mesmo significado, mas são expressas de maneiras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diferentes.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179512" y="294855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Duas proposições são equivalentes se tiverem a mesma </a:t>
            </a:r>
            <a:r>
              <a:rPr lang="pt-BR" dirty="0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tabela-verdade;</a:t>
            </a:r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equivalência entre as proposições "p" e "q" pode ser representada por "p = q" ou "p ⇔ </a:t>
            </a:r>
            <a:r>
              <a:rPr lang="pt-BR" dirty="0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q“;</a:t>
            </a:r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Proposições equivalentes podem ser usadas de forma </a:t>
            </a:r>
            <a:r>
              <a:rPr lang="pt-BR" dirty="0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intercambiável.</a:t>
            </a:r>
            <a:endParaRPr lang="pt-BR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79512" y="446111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</a:p>
          <a:p>
            <a:r>
              <a:rPr lang="pt-BR" dirty="0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</a:t>
            </a:r>
            <a:r>
              <a:rPr lang="pt-BR" dirty="0" smtClean="0">
                <a:solidFill>
                  <a:srgbClr val="001D3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pt-BR" dirty="0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cio 4 da ficha 1.</a:t>
            </a:r>
            <a:endParaRPr lang="pt-BR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41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F5C2C-51E4-47E4-9DFB-3AC4C5D92474}" type="slidenum">
              <a:rPr lang="pt-PT" smtClean="0"/>
              <a:pPr/>
              <a:t>21</a:t>
            </a:fld>
            <a:endParaRPr lang="pt-PT"/>
          </a:p>
        </p:txBody>
      </p:sp>
      <p:grpSp>
        <p:nvGrpSpPr>
          <p:cNvPr id="5" name="Grupo 4"/>
          <p:cNvGrpSpPr/>
          <p:nvPr/>
        </p:nvGrpSpPr>
        <p:grpSpPr>
          <a:xfrm>
            <a:off x="-4223" y="0"/>
            <a:ext cx="9148223" cy="6858000"/>
            <a:chOff x="0" y="0"/>
            <a:chExt cx="9148223" cy="6858000"/>
          </a:xfrm>
        </p:grpSpPr>
        <p:pic>
          <p:nvPicPr>
            <p:cNvPr id="6" name="Picture 6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6898" b="71745"/>
            <a:stretch/>
          </p:blipFill>
          <p:spPr bwMode="auto">
            <a:xfrm>
              <a:off x="0" y="0"/>
              <a:ext cx="9144000" cy="2785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smaia.ISUTC\Desktop\template-ap-pwp_ISUTC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t="71516" r="109" b="-1"/>
            <a:stretch/>
          </p:blipFill>
          <p:spPr bwMode="auto">
            <a:xfrm>
              <a:off x="0" y="3131054"/>
              <a:ext cx="9148223" cy="3726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tângulo 7"/>
          <p:cNvSpPr/>
          <p:nvPr/>
        </p:nvSpPr>
        <p:spPr>
          <a:xfrm>
            <a:off x="2987824" y="1392771"/>
            <a:ext cx="30641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Tautologias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contradições</a:t>
            </a: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23528" y="2081543"/>
            <a:ext cx="8363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lógica, uma tautologia é uma proposição que é sempre verdadeira, enquanto uma contradição é uma proposição que é sempre falsa. 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345726" y="2785542"/>
            <a:ext cx="83410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Tautologia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 uma proposição composta que é sempre verdadeira, independentemente dos valores lógicos das proposições que a compõem.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negação de uma tautologia é sempre falsa, ou seja, é uma contradição.</a:t>
            </a:r>
            <a:r>
              <a:rPr lang="pt-BR" dirty="0">
                <a:solidFill>
                  <a:srgbClr val="001D35"/>
                </a:solidFill>
                <a:latin typeface="Google Sans"/>
              </a:rPr>
              <a:t> </a:t>
            </a:r>
            <a:endParaRPr lang="pt-BR" b="0" i="0" dirty="0">
              <a:solidFill>
                <a:srgbClr val="001D35"/>
              </a:solidFill>
              <a:effectLst/>
              <a:latin typeface="Google Sans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323528" y="3985871"/>
            <a:ext cx="87129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Contradição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 uma proposição composta que é sempre falsa, independentemente dos valores lógicos das proposições que a compõem.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negação de uma contradição é sempre verdadeira, ou seja, é uma tautologia.</a:t>
            </a:r>
            <a:r>
              <a:rPr lang="pt-BR" dirty="0">
                <a:solidFill>
                  <a:srgbClr val="001D35"/>
                </a:solidFill>
                <a:latin typeface="Google Sans"/>
              </a:rPr>
              <a:t> </a:t>
            </a:r>
            <a:endParaRPr lang="pt-BR" b="0" i="0" dirty="0">
              <a:solidFill>
                <a:srgbClr val="001D35"/>
              </a:solidFill>
              <a:effectLst/>
              <a:latin typeface="Google Sans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331640" y="5257270"/>
            <a:ext cx="19351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</a:p>
          <a:p>
            <a:r>
              <a:rPr lang="pt-BR" dirty="0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</a:t>
            </a:r>
            <a:r>
              <a:rPr lang="pt-BR" dirty="0" smtClean="0">
                <a:solidFill>
                  <a:srgbClr val="001D3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pt-BR" dirty="0" smtClean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cio 5 ficha 1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0844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" t="38432" r="31331" b="13582"/>
          <a:stretch/>
        </p:blipFill>
        <p:spPr bwMode="auto">
          <a:xfrm>
            <a:off x="1" y="1"/>
            <a:ext cx="990599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1043608" y="5293657"/>
            <a:ext cx="316835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latin typeface="Myriad Pro" pitchFamily="34" charset="0"/>
              </a:rPr>
              <a:t>Prolong. da Av. Kim Il Sung (IFT/TDM) Edifício D1</a:t>
            </a:r>
          </a:p>
          <a:p>
            <a:r>
              <a:rPr lang="pt-PT" sz="1100" dirty="0">
                <a:latin typeface="Myriad Pro" pitchFamily="34" charset="0"/>
              </a:rPr>
              <a:t>Maputo, Moçambique</a:t>
            </a:r>
          </a:p>
          <a:p>
            <a:endParaRPr lang="pt-PT" sz="600" dirty="0">
              <a:latin typeface="Myriad Pro" pitchFamily="34" charset="0"/>
            </a:endParaRPr>
          </a:p>
          <a:p>
            <a:r>
              <a:rPr lang="pt-PT" sz="1100" b="1" dirty="0">
                <a:latin typeface="Myriad Pro" pitchFamily="34" charset="0"/>
              </a:rPr>
              <a:t>www.facebook.com/isutc</a:t>
            </a:r>
          </a:p>
          <a:p>
            <a:r>
              <a:rPr lang="pt-PT" sz="1600" b="1" dirty="0">
                <a:latin typeface="Myriad Pro" pitchFamily="34" charset="0"/>
              </a:rPr>
              <a:t>www.transcom.co.mz/isutc</a:t>
            </a:r>
          </a:p>
          <a:p>
            <a:endParaRPr lang="pt-PT" sz="1000" b="1" dirty="0">
              <a:latin typeface="Myriad Pro" pitchFamily="34" charset="0"/>
            </a:endParaRPr>
          </a:p>
        </p:txBody>
      </p:sp>
      <p:pic>
        <p:nvPicPr>
          <p:cNvPr id="3077" name="Picture 5" descr="C:\Users\smaia.ISUTC\Desktop\ENTER\logos\ISUTC ProfPic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400" b="72000" l="3200" r="96800">
                        <a14:foregroundMark x1="33333" y1="47200" x2="33333" y2="47200"/>
                        <a14:foregroundMark x1="38667" y1="45067" x2="38667" y2="45067"/>
                        <a14:foregroundMark x1="49333" y1="44533" x2="49333" y2="44533"/>
                        <a14:foregroundMark x1="61333" y1="40533" x2="61333" y2="40533"/>
                        <a14:foregroundMark x1="73333" y1="40533" x2="73333" y2="40533"/>
                      </a14:backgroundRemoval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02" y="4101416"/>
            <a:ext cx="1555882" cy="155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42"/>
          <p:cNvGrpSpPr>
            <a:grpSpLocks/>
          </p:cNvGrpSpPr>
          <p:nvPr/>
        </p:nvGrpSpPr>
        <p:grpSpPr bwMode="auto">
          <a:xfrm>
            <a:off x="3172047" y="2564904"/>
            <a:ext cx="3632201" cy="792089"/>
            <a:chOff x="2203" y="3652"/>
            <a:chExt cx="2112" cy="370"/>
          </a:xfrm>
        </p:grpSpPr>
        <p:sp>
          <p:nvSpPr>
            <p:cNvPr id="8" name="Text Box 40"/>
            <p:cNvSpPr txBox="1">
              <a:spLocks noChangeArrowheads="1"/>
            </p:cNvSpPr>
            <p:nvPr/>
          </p:nvSpPr>
          <p:spPr bwMode="auto">
            <a:xfrm>
              <a:off x="2203" y="3652"/>
              <a:ext cx="2112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50000"/>
                </a:lnSpc>
                <a:spcAft>
                  <a:spcPts val="200"/>
                </a:spcAft>
              </a:pPr>
              <a:r>
                <a:rPr lang="es-ES_tradnl" altLang="pt-PT" sz="15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GARANTE O TEU FUTURO</a:t>
              </a:r>
              <a:endParaRPr lang="en-US" altLang="pt-PT" sz="15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pt-PT" sz="15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 UMA FORMAÇÃO SÓLIDA</a:t>
              </a:r>
              <a:endParaRPr lang="pt-PT" altLang="pt-PT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Line 41"/>
            <p:cNvSpPr>
              <a:spLocks noChangeShapeType="1"/>
            </p:cNvSpPr>
            <p:nvPr/>
          </p:nvSpPr>
          <p:spPr bwMode="auto">
            <a:xfrm>
              <a:off x="2389" y="3854"/>
              <a:ext cx="1741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 anchor="ctr"/>
            <a:lstStyle/>
            <a:p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71485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5552</TotalTime>
  <Words>1715</Words>
  <Application>Microsoft Office PowerPoint</Application>
  <PresentationFormat>Apresentação no Ecrã (4:3)</PresentationFormat>
  <Paragraphs>247</Paragraphs>
  <Slides>22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Cambria Math</vt:lpstr>
      <vt:lpstr>Google Sans</vt:lpstr>
      <vt:lpstr>Myriad Pro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helena</dc:creator>
  <cp:lastModifiedBy>JUVENCIO DOMINGOS</cp:lastModifiedBy>
  <cp:revision>384</cp:revision>
  <cp:lastPrinted>2016-05-31T06:00:14Z</cp:lastPrinted>
  <dcterms:created xsi:type="dcterms:W3CDTF">2016-03-14T10:10:54Z</dcterms:created>
  <dcterms:modified xsi:type="dcterms:W3CDTF">2025-03-18T12:53:34Z</dcterms:modified>
</cp:coreProperties>
</file>